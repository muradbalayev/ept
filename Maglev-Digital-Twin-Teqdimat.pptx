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ac729b698c4044" /><Relationship Type="http://schemas.openxmlformats.org/officeDocument/2006/relationships/extended-properties" Target="/docProps/app.xml" Id="Rb8f9b42e4fe743a8" /><Relationship Type="http://schemas.openxmlformats.org/officeDocument/2006/relationships/officeDocument" Target="/ppt/presentation.xml" Id="Rdbc96a533cf74f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b83550c2664769"/>
  </p:sldMasterIdLst>
  <p:notesMasterIdLst>
    <p:notesMasterId xmlns:r="http://schemas.openxmlformats.org/officeDocument/2006/relationships" r:id="R5d0d86ed9d364b6d"/>
  </p:notesMasterIdLst>
  <p:sldIdLst>
    <p:sldId xmlns:r="http://schemas.openxmlformats.org/officeDocument/2006/relationships" id="256" r:id="R8536c984c5944e27"/>
    <p:sldId xmlns:r="http://schemas.openxmlformats.org/officeDocument/2006/relationships" id="257" r:id="R44d8b7f38b6f42e5"/>
    <p:sldId xmlns:r="http://schemas.openxmlformats.org/officeDocument/2006/relationships" id="258" r:id="R32309e4a499b4334"/>
    <p:sldId xmlns:r="http://schemas.openxmlformats.org/officeDocument/2006/relationships" id="259" r:id="R304d19d0b8914dad"/>
    <p:sldId xmlns:r="http://schemas.openxmlformats.org/officeDocument/2006/relationships" id="260" r:id="R4c52374b62fb4594"/>
    <p:sldId xmlns:r="http://schemas.openxmlformats.org/officeDocument/2006/relationships" id="261" r:id="Rc19a5cfc3586410d"/>
    <p:sldId xmlns:r="http://schemas.openxmlformats.org/officeDocument/2006/relationships" id="262" r:id="Rd2b62032c85e4d7c"/>
    <p:sldId xmlns:r="http://schemas.openxmlformats.org/officeDocument/2006/relationships" id="263" r:id="Re085e390b9a848fd"/>
    <p:sldId xmlns:r="http://schemas.openxmlformats.org/officeDocument/2006/relationships" id="264" r:id="R94b43517fb7f460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b83550c2664769" /><Relationship Type="http://schemas.openxmlformats.org/officeDocument/2006/relationships/theme" Target="/ppt/theme/theme1.xml" Id="R13627d1f370847da" /><Relationship Type="http://schemas.openxmlformats.org/officeDocument/2006/relationships/notesMaster" Target="/ppt/notesMasters/notesMaster1.xml" Id="R5d0d86ed9d364b6d" /><Relationship Type="http://schemas.openxmlformats.org/officeDocument/2006/relationships/presProps" Target="/ppt/presProps.xml" Id="R0fb264333d81424c" /><Relationship Type="http://schemas.openxmlformats.org/officeDocument/2006/relationships/viewProps" Target="/ppt/viewProps.xml" Id="Rda2d42b7028d4a49" /><Relationship Type="http://schemas.openxmlformats.org/officeDocument/2006/relationships/tableStyles" Target="/ppt/tableStyles.xml" Id="R9243e2c823bc4b63" /><Relationship Type="http://schemas.openxmlformats.org/officeDocument/2006/relationships/slide" Target="/ppt/slides/slide1.xml" Id="R8536c984c5944e27" /><Relationship Type="http://schemas.openxmlformats.org/officeDocument/2006/relationships/slide" Target="/ppt/slides/slide2.xml" Id="R44d8b7f38b6f42e5" /><Relationship Type="http://schemas.openxmlformats.org/officeDocument/2006/relationships/slide" Target="/ppt/slides/slide3.xml" Id="R32309e4a499b4334" /><Relationship Type="http://schemas.openxmlformats.org/officeDocument/2006/relationships/slide" Target="/ppt/slides/slide4.xml" Id="R304d19d0b8914dad" /><Relationship Type="http://schemas.openxmlformats.org/officeDocument/2006/relationships/slide" Target="/ppt/slides/slide5.xml" Id="R4c52374b62fb4594" /><Relationship Type="http://schemas.openxmlformats.org/officeDocument/2006/relationships/slide" Target="/ppt/slides/slide6.xml" Id="Rc19a5cfc3586410d" /><Relationship Type="http://schemas.openxmlformats.org/officeDocument/2006/relationships/slide" Target="/ppt/slides/slide7.xml" Id="Rd2b62032c85e4d7c" /><Relationship Type="http://schemas.openxmlformats.org/officeDocument/2006/relationships/slide" Target="/ppt/slides/slide8.xml" Id="Re085e390b9a848fd" /><Relationship Type="http://schemas.openxmlformats.org/officeDocument/2006/relationships/slide" Target="/ppt/slides/slide9.xml" Id="R94b43517fb7f46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6a0e5544d6048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060ba274a74b71" /><Relationship Type="http://schemas.openxmlformats.org/officeDocument/2006/relationships/notesMaster" Target="/ppt/notesMasters/notesMaster1.xml" Id="R9cee71ca9b7f4c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0cc81223524c7e" /><Relationship Type="http://schemas.openxmlformats.org/officeDocument/2006/relationships/notesMaster" Target="/ppt/notesMasters/notesMaster1.xml" Id="R0e8ea7f3a50045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4a40e794cd471a" /><Relationship Type="http://schemas.openxmlformats.org/officeDocument/2006/relationships/notesMaster" Target="/ppt/notesMasters/notesMaster1.xml" Id="R286e87dbc4f142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43f16d161b4418" /><Relationship Type="http://schemas.openxmlformats.org/officeDocument/2006/relationships/notesMaster" Target="/ppt/notesMasters/notesMaster1.xml" Id="Rd1c66ca7498449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4bf0773c924c2c" /><Relationship Type="http://schemas.openxmlformats.org/officeDocument/2006/relationships/notesMaster" Target="/ppt/notesMasters/notesMaster1.xml" Id="Ra147552bf31c4e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e86d9215a742e1" /><Relationship Type="http://schemas.openxmlformats.org/officeDocument/2006/relationships/notesMaster" Target="/ppt/notesMasters/notesMaster1.xml" Id="R193142b0bfa14c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1e205db5434689" /><Relationship Type="http://schemas.openxmlformats.org/officeDocument/2006/relationships/notesMaster" Target="/ppt/notesMasters/notesMaster1.xml" Id="Rb757d53dd35b43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459549496044de" /><Relationship Type="http://schemas.openxmlformats.org/officeDocument/2006/relationships/notesMaster" Target="/ppt/notesMasters/notesMaster1.xml" Id="Ra4889a3788e74e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7e25054a7a4277" /><Relationship Type="http://schemas.openxmlformats.org/officeDocument/2006/relationships/notesMaster" Target="/ppt/notesMasters/notesMaster1.xml" Id="R693fed53b17042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3245d7a104449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21eca9c0f7d44b1" /><Relationship Type="http://schemas.openxmlformats.org/officeDocument/2006/relationships/slideLayout" Target="/ppt/slideLayouts/slideLayout2.xml" Id="Rd072460db77a40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72460db77a40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1c7771d6a0487d" /><Relationship Type="http://schemas.openxmlformats.org/officeDocument/2006/relationships/notesSlide" Target="/ppt/notesSlides/notesSlide1.xml" Id="Ra01b36866a4e44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5a90787a09421a" /><Relationship Type="http://schemas.openxmlformats.org/officeDocument/2006/relationships/notesSlide" Target="/ppt/notesSlides/notesSlide2.xml" Id="Rdd36e9a61c9b4d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08a31d327a4a3f" /><Relationship Type="http://schemas.openxmlformats.org/officeDocument/2006/relationships/notesSlide" Target="/ppt/notesSlides/notesSlide3.xml" Id="R2dc26ea93df741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e0203829174dd9" /><Relationship Type="http://schemas.openxmlformats.org/officeDocument/2006/relationships/notesSlide" Target="/ppt/notesSlides/notesSlide4.xml" Id="Rad82d68c112749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3bfa27c158473e" /><Relationship Type="http://schemas.openxmlformats.org/officeDocument/2006/relationships/notesSlide" Target="/ppt/notesSlides/notesSlide5.xml" Id="R9b59abe2ec0945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5030d1a97e4c11" /><Relationship Type="http://schemas.openxmlformats.org/officeDocument/2006/relationships/notesSlide" Target="/ppt/notesSlides/notesSlide6.xml" Id="Rfa706ff7617d43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2f87c295b64f1e" /><Relationship Type="http://schemas.openxmlformats.org/officeDocument/2006/relationships/notesSlide" Target="/ppt/notesSlides/notesSlide7.xml" Id="Rf3a816c55ecc4b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3911ffcbd346b6" /><Relationship Type="http://schemas.openxmlformats.org/officeDocument/2006/relationships/notesSlide" Target="/ppt/notesSlides/notesSlide8.xml" Id="Re3a4a3611a5942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70fb0773c1487f" /><Relationship Type="http://schemas.openxmlformats.org/officeDocument/2006/relationships/notesSlide" Target="/ppt/notesSlides/notesSlide9.xml" Id="Rc5d6094ae56d4b0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FCC814-8614-4F56-A22B-3F0F73D7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AD635-6BD4-47EE-AE59-DB5987EA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70419-6B96-4E99-8EBC-FFD0A54B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674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F287A9-1147-468B-9BCB-5BA4EAF0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0005" y="1959293"/>
            <a:ext cx="1337310" cy="6315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F2D"/>
          </a:solidFill>
          <a:ln xmlns:a="http://schemas.openxmlformats.org/drawingml/2006/main" w="19050">
            <a:solidFill>
              <a:srgbClr val="6E3B1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54FDA-EEAD-4DF5-A376-75E8D3C3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5710" y="1981581"/>
            <a:ext cx="1523048" cy="594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4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069B9C-721E-4553-8E72-05AB1E05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146" y="2085594"/>
            <a:ext cx="1523048" cy="594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4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F2D0FE-E510-4F43-9F96-F6396D98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582" y="2189607"/>
            <a:ext cx="1523048" cy="594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4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DFCBD-FA34-4E09-A868-17645CDF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4018" y="2293620"/>
            <a:ext cx="1523048" cy="594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4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97186E-3C01-4738-AD2C-25859951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454" y="2397633"/>
            <a:ext cx="1523048" cy="594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4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855E23-DA57-4A92-91C3-798FF600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442210"/>
            <a:ext cx="520065" cy="4011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5CAF41-5F8C-4B2D-9D9A-762643CE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843403"/>
            <a:ext cx="520065" cy="4011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5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6A10A9-EB15-48B5-9B89-9B798254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801" y="2561082"/>
            <a:ext cx="148590" cy="1485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0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2" b="1">
                <a:solidFill>
                  <a:srgbClr val="13231C"/>
                </a:solidFill>
                <a:latin typeface="Aptos"/>
                <a:ea typeface="Aptos"/>
                <a:cs typeface="Aptos"/>
              </a:defRPr>
            </a:pPr>
            <a:r>
              <a:rPr sz="702" b="1">
                <a:solidFill>
                  <a:srgbClr val="13231C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A46D48-8B57-41EA-91E5-997BB559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801" y="2962275"/>
            <a:ext cx="148590" cy="1485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0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2" b="1">
                <a:solidFill>
                  <a:srgbClr val="13231C"/>
                </a:solidFill>
                <a:latin typeface="Aptos"/>
                <a:ea typeface="Aptos"/>
                <a:cs typeface="Aptos"/>
              </a:defRPr>
            </a:pPr>
            <a:r>
              <a:rPr sz="702" b="1">
                <a:solidFill>
                  <a:srgbClr val="13231C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6AB23D-A0CC-4822-90BF-0F718238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743" y="3036570"/>
            <a:ext cx="1040130" cy="7058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3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2EB95D-7E4B-42BA-82A2-53BF3DDB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4235" y="3705225"/>
            <a:ext cx="2303145" cy="208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4528C9-F8A8-4647-90B5-197A88FE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4105" y="2107883"/>
            <a:ext cx="1114425" cy="104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A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0BF1C5-B14F-421E-8FE4-0DDECE4D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">
            <a:off x="6010656" y="1818132"/>
            <a:ext cx="638937" cy="4903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B7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8EC30B-7FC4-465B-A7C4-8942AB27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1758696"/>
            <a:ext cx="609219" cy="8543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8"/>
          </a:solidFill>
          <a:ln xmlns:a="http://schemas.openxmlformats.org/drawingml/2006/main" w="9525">
            <a:solidFill>
              <a:srgbClr val="CAD8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F1C4BB-5789-46F2-9889-66EE70BE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182178"/>
            <a:ext cx="460629" cy="3863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793D9A-1449-461D-97B6-C408FB80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4495" y="2679954"/>
            <a:ext cx="1114425" cy="59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9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29D848-3931-477D-B890-0E4AA88F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4040" y="2813685"/>
            <a:ext cx="520065" cy="3566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A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1659B8-F77A-4318-AB28-81226386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90800"/>
            <a:ext cx="252603" cy="5200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9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E1049D-1D6B-475E-B1FF-EF6973CA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57A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57A24"/>
                </a:solidFill>
                <a:latin typeface="Aptos"/>
                <a:ea typeface="Aptos"/>
                <a:cs typeface="Aptos"/>
              </a:rPr>
              <a:t>MAQNİT ASQILI RÜTUBƏT ÖLÇMƏ SİSTEMİ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D0AA63-FBB2-4A84-BC8E-8EC7AF6B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5810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3231C"/>
                </a:solidFill>
                <a:latin typeface="Georgia"/>
                <a:ea typeface="Georgia"/>
                <a:cs typeface="Georgia"/>
              </a:defRPr>
            </a:pPr>
            <a:r>
              <a:rPr sz="4050" b="1">
                <a:solidFill>
                  <a:srgbClr val="13231C"/>
                </a:solidFill>
                <a:latin typeface="Georgia"/>
                <a:ea typeface="Georgia"/>
                <a:cs typeface="Georgia"/>
              </a:rPr>
              <a:t>Digital Twin</a:t>
            </a:r>
          </a:p>
          <a:p xmlns:a="http://schemas.openxmlformats.org/drawingml/2006/main">
            <a:pPr algn="l">
              <a:defRPr sz="4050" b="1">
                <a:solidFill>
                  <a:srgbClr val="13231C"/>
                </a:solidFill>
                <a:latin typeface="Georgia"/>
                <a:ea typeface="Georgia"/>
                <a:cs typeface="Georgia"/>
              </a:defRPr>
            </a:pPr>
            <a:r>
              <a:rPr sz="4050" b="1">
                <a:solidFill>
                  <a:srgbClr val="13231C"/>
                </a:solidFill>
                <a:latin typeface="Georgia"/>
                <a:ea typeface="Georgia"/>
                <a:cs typeface="Georgia"/>
              </a:rPr>
              <a:t>müdafiə təqdimatı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75DFB7-19A5-40D2-9FF4-5F3C6832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514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Qum və su girişi olan maqnit levitasiya qurğusunun real vaxtlı 3D modeli, PID idarəetməsi və rütubət qiymətləndirməsi.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2AB305-3434-4F36-A15A-32B761BD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E"/>
          </a:solidFill>
          <a:ln xmlns:a="http://schemas.openxmlformats.org/drawingml/2006/main" w="9525">
            <a:solidFill>
              <a:srgbClr val="0F8F8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298B07-1B15-4B73-9D56-F63C5ABD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F8F8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F8F84"/>
                </a:solidFill>
                <a:latin typeface="Aptos"/>
                <a:ea typeface="Aptos"/>
                <a:cs typeface="Aptos"/>
              </a:rPr>
              <a:t>React + TypeScript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738ECC-A723-40D6-A43D-6725AE79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242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8"/>
          </a:solidFill>
          <a:ln xmlns:a="http://schemas.openxmlformats.org/drawingml/2006/main" w="9525">
            <a:solidFill>
              <a:srgbClr val="2D8EC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75960F-B965-4355-9BC7-35ED477A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004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D8EC2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D8EC2"/>
                </a:solidFill>
                <a:latin typeface="Aptos"/>
                <a:ea typeface="Aptos"/>
                <a:cs typeface="Aptos"/>
              </a:rPr>
              <a:t>FastAPI backend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3477D3-E735-4530-B8E7-0E11B3C1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2425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9DA"/>
          </a:solidFill>
          <a:ln xmlns:a="http://schemas.openxmlformats.org/drawingml/2006/main" w="9525">
            <a:solidFill>
              <a:srgbClr val="B96F2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79106B-82E1-44E4-8018-E94C49E3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00450"/>
            <a:ext cx="1057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B96F2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B96F2D"/>
                </a:solidFill>
                <a:latin typeface="Aptos"/>
                <a:ea typeface="Aptos"/>
                <a:cs typeface="Aptos"/>
              </a:rPr>
              <a:t>Three.js 3D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E2FFE1-AD0F-4208-A41E-C87D8CBE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C75518-5E0B-4198-8387-974FE0AD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31C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13231C"/>
                </a:solidFill>
                <a:latin typeface="Georgia"/>
                <a:ea typeface="Georgia"/>
                <a:cs typeface="Georgia"/>
              </a:rPr>
              <a:t>PID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3824E8-83FB-421D-8857-F5882119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Qapalı idarəetmə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FDE3A1-C696-4580-912E-61722A08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Hall/yerdəyişmə feedback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97DD58-CE56-43C0-81EF-A74AFEB1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7625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07A8B7-EA6C-4D4F-B92A-ED495620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7434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31C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13231C"/>
                </a:solidFill>
                <a:latin typeface="Georgia"/>
                <a:ea typeface="Georgia"/>
                <a:cs typeface="Georgia"/>
              </a:rPr>
              <a:t>30 Hz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523C35-8C71-4E53-B07E-7E0231B3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510540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Canlı telemetry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1C3F71-13DE-4E9D-B010-5E96BA6D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52768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WebSocket axını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69DDD0-3384-49AF-AC81-3862CFE5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7625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7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0F3707-9662-41E4-94C0-9EF755F3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7434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31C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13231C"/>
                </a:solidFill>
                <a:latin typeface="Georgia"/>
                <a:ea typeface="Georgia"/>
                <a:cs typeface="Georgia"/>
              </a:rPr>
              <a:t>18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84676B-3837-403A-9F87-3F721210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10540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Backend test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C47BFD-0A93-4EFC-A9C1-34CEFA6B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2768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model davranışı yoxlanıb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3DFDC2-A66D-4B40-B26E-959DD747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625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5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A2B6F4A-653E-4CD9-BA7B-C925943C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7434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31C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13231C"/>
                </a:solidFill>
                <a:latin typeface="Georgia"/>
                <a:ea typeface="Georgia"/>
                <a:cs typeface="Georgia"/>
              </a:rPr>
              <a:t>3D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FCC28C-D337-4CB8-9A44-3AC8993E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0540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Rəqəmsal əkiz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9C7D775-4DA4-45A7-8BB3-246B33A6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2768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qum, su, kamera, solenoid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9C23985-C7DF-4410-AFA1-873AFE2C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4AD109-056F-4358-B22F-EE4BA42B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Maqnit asqılı rütubət ölçmə sistemi | Digital Twin demo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1F3B50C-D8AF-46D6-89DE-0DD63C00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8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07168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918779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A384C5-86DA-4909-9690-B8756FA6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F4775-C0C9-4A7B-9970-5A18814E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DAF535-C4C0-4646-AEA3-C4F71709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57A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57A24"/>
                </a:solidFill>
                <a:latin typeface="Aptos"/>
                <a:ea typeface="Aptos"/>
                <a:cs typeface="Aptos"/>
              </a:rPr>
              <a:t>PROBLEM VƏ MƏQSƏD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56FD1C-2FF6-4583-BF78-940517F9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52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31C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3231C"/>
                </a:solidFill>
                <a:latin typeface="Georgia"/>
                <a:ea typeface="Georgia"/>
                <a:cs typeface="Georgia"/>
              </a:rPr>
              <a:t>Laborator rütubət ölçməsi dəqiqdir, amma sənaye xətti üçün çox ləngdir.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66BA8-5915-4D2F-A602-EFC761E5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Layihənin məqsədi eyni fiziki məntiqi təmassız maqnit asqısı və real-time digital twin ilə göstərməkdir.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03862-CA45-48C4-B739-C25418C6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4476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22A418-6234-4326-9029-5A4EA0D4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47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7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3F4A79-1652-48D6-A147-6CC876A8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86025"/>
            <a:ext cx="413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31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31C"/>
                </a:solidFill>
                <a:latin typeface="Aptos"/>
                <a:ea typeface="Aptos"/>
                <a:cs typeface="Aptos"/>
              </a:rPr>
              <a:t>Klassik termoqravimetrik metod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88B4AF-E860-4D71-B7D8-B7893EC5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90825"/>
            <a:ext cx="41338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1. Yaş nümunə çəkilir</a:t>
            </a:r>
          </a:p>
          <a:p xmlns:a="http://schemas.openxmlformats.org/drawingml/2006/main">
            <a:pPr algn="l">
              <a:defRPr sz="84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2. Etüvdə qurudulur</a:t>
            </a:r>
          </a:p>
          <a:p xmlns:a="http://schemas.openxmlformats.org/drawingml/2006/main">
            <a:pPr algn="l">
              <a:defRPr sz="84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3. Quru nümunə yenidən çəkilir</a:t>
            </a:r>
          </a:p>
          <a:p xmlns:a="http://schemas.openxmlformats.org/drawingml/2006/main">
            <a:pPr algn="l">
              <a:defRPr sz="84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4. Rütubət hesablanır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4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W = (myaş - mquru) / mquru × 100%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7E0E00-02B6-4561-A555-2BCFCF56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33625"/>
            <a:ext cx="4476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A750B3-178F-4139-BFF0-9ACC1D74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33625"/>
            <a:ext cx="47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8537F4-B254-43FA-8544-90EBCDF5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86025"/>
            <a:ext cx="413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31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31C"/>
                </a:solidFill>
                <a:latin typeface="Aptos"/>
                <a:ea typeface="Aptos"/>
                <a:cs typeface="Aptos"/>
              </a:rPr>
              <a:t>Təklif olunan maqnit asqılı metod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1108CA-AF80-455E-8770-147A15B3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90825"/>
            <a:ext cx="41338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1. Nümunə ölçü kamerasına daxil olur</a:t>
            </a:r>
          </a:p>
          <a:p xmlns:a="http://schemas.openxmlformats.org/drawingml/2006/main">
            <a:pPr algn="l">
              <a:defRPr sz="84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2. Su/rütubət görünən çəkini dəyişir</a:t>
            </a:r>
          </a:p>
          <a:p xmlns:a="http://schemas.openxmlformats.org/drawingml/2006/main">
            <a:pPr algn="l">
              <a:defRPr sz="84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3. Solenoid cərəyanı və məsafə ölçülür</a:t>
            </a:r>
          </a:p>
          <a:p xmlns:a="http://schemas.openxmlformats.org/drawingml/2006/main">
            <a:pPr algn="l">
              <a:defRPr sz="84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4. Rütubət kalibrasiya ilə qiymətləndirilir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3E14CE-C75B-4685-BE8C-94260FD8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1625" y="350520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A1FA9C-ACB3-453B-9B92-E8B99943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600825" y="3467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CF34B8-FF03-4F4E-8A60-040E7DFA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197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231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3231C"/>
                </a:solidFill>
                <a:latin typeface="Georgia"/>
                <a:ea typeface="Georgia"/>
                <a:cs typeface="Georgia"/>
              </a:rPr>
              <a:t>2-4 saatlıq laborator prosesdən canlı və təmassız ölçməyə keçid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A524BF-EF7A-41CB-839D-28BA8929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88042D-2372-4975-A570-90F7E739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Maqnit asqılı rütubət ölçmə sistemi | Digital Twin demo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65D8AE-3908-4F61-840D-C191FE46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8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07168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5535405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5B2F59-32DD-47F2-9ABA-D7A38761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DA64DD-B29D-4DDB-812E-5BB35EA3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43CD44-1A27-460F-9D08-7945A350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57A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57A24"/>
                </a:solidFill>
                <a:latin typeface="Aptos"/>
                <a:ea typeface="Aptos"/>
                <a:cs typeface="Aptos"/>
              </a:rPr>
              <a:t>QURĞU XƏRITƏSI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7F85F-A6FC-43B0-BEE1-F4EDA735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52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31C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3231C"/>
                </a:solidFill>
                <a:latin typeface="Georgia"/>
                <a:ea typeface="Georgia"/>
                <a:cs typeface="Georgia"/>
              </a:rPr>
              <a:t>3D səhnə sxemdəki mexaniki, sensor və idarəetmə hissələrini bir ekranda birləşdirir.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A52D5-9660-45A0-A983-A5D1AD2A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Aşağıda müəllimin soruşduğu çatışmayan hissələr də ayrıca adlandırılıb: material nümunəsi, dayaq platforması və referans halqası.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D55FB-95CF-4124-82CF-0FF2B751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520" y="2693670"/>
            <a:ext cx="1920240" cy="9067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F2D"/>
          </a:solidFill>
          <a:ln xmlns:a="http://schemas.openxmlformats.org/drawingml/2006/main" w="19050">
            <a:solidFill>
              <a:srgbClr val="6E3B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AF935E-B95B-43F7-AEFC-3836C478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725674"/>
            <a:ext cx="2186940" cy="85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4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02B149-8D5E-4A08-9CB4-87956DF2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0184" y="2875026"/>
            <a:ext cx="2186940" cy="85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4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71C0BF-8E3E-428E-9E5D-931D7DF6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5528" y="3024378"/>
            <a:ext cx="2186940" cy="85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4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D6C4EF-2418-4F17-A7B4-6676C6AA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3173730"/>
            <a:ext cx="2186940" cy="85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4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03E17D-6397-4B8C-AAFC-2F309481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216" y="3323082"/>
            <a:ext cx="2186940" cy="85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4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56A92B-E567-4F4C-96C8-430D8816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87090"/>
            <a:ext cx="746760" cy="576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01F5D7-916E-457F-98C4-38229FF7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963162"/>
            <a:ext cx="746760" cy="576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5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19DA53-3330-47C7-8ECD-DD38D61A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0304" y="3557778"/>
            <a:ext cx="213360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0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8" b="1">
                <a:solidFill>
                  <a:srgbClr val="13231C"/>
                </a:solidFill>
                <a:latin typeface="Aptos"/>
                <a:ea typeface="Aptos"/>
                <a:cs typeface="Aptos"/>
              </a:defRPr>
            </a:pPr>
            <a:r>
              <a:rPr sz="1008" b="1">
                <a:solidFill>
                  <a:srgbClr val="13231C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4E15BC-6A67-464D-8461-EF7BD9F7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0304" y="4133850"/>
            <a:ext cx="213360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0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8" b="1">
                <a:solidFill>
                  <a:srgbClr val="13231C"/>
                </a:solidFill>
                <a:latin typeface="Aptos"/>
                <a:ea typeface="Aptos"/>
                <a:cs typeface="Aptos"/>
              </a:defRPr>
            </a:pPr>
            <a:r>
              <a:rPr sz="1008" b="1">
                <a:solidFill>
                  <a:srgbClr val="13231C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976F0E-75FA-4933-8A71-B1BBFC82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220" y="4240530"/>
            <a:ext cx="1493520" cy="10134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3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9AE0AE-734D-40F7-A626-C88100EA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440" y="5200650"/>
            <a:ext cx="3307080" cy="2987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36E481-1F9C-4F29-8C9A-D4F3A758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7920" y="2907030"/>
            <a:ext cx="1600200" cy="149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A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69201E-BB9E-4D2E-B17C-D05D4F80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">
            <a:off x="2173224" y="2490978"/>
            <a:ext cx="917448" cy="704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B7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B3D6A5-68D3-45D2-AAD5-D38472D1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1920" y="2405634"/>
            <a:ext cx="874776" cy="1226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8"/>
          </a:solidFill>
          <a:ln xmlns:a="http://schemas.openxmlformats.org/drawingml/2006/main" w="9525">
            <a:solidFill>
              <a:srgbClr val="CAD8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9EBAC4-CFA1-4FAC-A117-8A55462A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13710"/>
            <a:ext cx="661416" cy="554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5D7956-404E-4573-8ACA-C064AE9B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3728466"/>
            <a:ext cx="1600200" cy="85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9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210803-61F0-4C5C-89DD-0DFE0DF3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" y="3920490"/>
            <a:ext cx="74676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A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095C8B-CA67-4E53-9FBD-A63D6ACD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00450"/>
            <a:ext cx="362712" cy="746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9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B5A1E4-3292-48C4-95C4-8FF7D0CD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3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8771CB-7D11-4715-AAF7-6EFE8E47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85925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1F02FF-F99E-4677-B013-A7454EBA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383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31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3231C"/>
                </a:solidFill>
                <a:latin typeface="Aptos"/>
                <a:ea typeface="Aptos"/>
                <a:cs typeface="Aptos"/>
              </a:rPr>
              <a:t>Qum girişi / bunker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84BE00-7AB1-46AB-8D9B-006A6657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049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65209F-F046-44DE-84AE-CBA494B4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71625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C1080A-39BB-460A-ADD7-E0D8A647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5240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31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3231C"/>
                </a:solidFill>
                <a:latin typeface="Aptos"/>
                <a:ea typeface="Aptos"/>
                <a:cs typeface="Aptos"/>
              </a:rPr>
              <a:t>Su çəni və boru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328557-6B61-4172-9AB3-1BDA7FBB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8573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F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7A1F83-1F59-40A6-A973-58A6A99C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240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23C67A-630E-4F63-B396-FB6362A7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87642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31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3231C"/>
                </a:solidFill>
                <a:latin typeface="Aptos"/>
                <a:ea typeface="Aptos"/>
                <a:cs typeface="Aptos"/>
              </a:rPr>
              <a:t>Solenoid dolağı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310E21-553A-48FD-ADEC-0B4B3D2B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432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5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854812-8E98-44A6-9370-CD603A2E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209925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E45925-BA6A-4FA8-A364-38528E36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1623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31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3231C"/>
                </a:solidFill>
                <a:latin typeface="Aptos"/>
                <a:ea typeface="Aptos"/>
                <a:cs typeface="Aptos"/>
              </a:rPr>
              <a:t>N/S sabit maqnit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F56ED2-5DD0-4795-B629-9129F5E1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290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4F8E47-895B-4A1A-B56B-A3DFB3C2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95675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EFA5AB-B5BC-4EB7-8B2D-8AFF3768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4480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31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3231C"/>
                </a:solidFill>
                <a:latin typeface="Aptos"/>
                <a:ea typeface="Aptos"/>
                <a:cs typeface="Aptos"/>
              </a:rPr>
              <a:t>Ölçü kamerası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01F3BB-09FA-4E51-AD16-A68B7574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7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F30C3A-7611-40C2-9215-A0B5DC15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71925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52E356-F2C5-4AD2-B621-311309FA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243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31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3231C"/>
                </a:solidFill>
                <a:latin typeface="Aptos"/>
                <a:ea typeface="Aptos"/>
                <a:cs typeface="Aptos"/>
              </a:rPr>
              <a:t>Hall/yerdəyişmə sensoru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BD8CF1-9C30-4594-8F94-91F4B95D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57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D66287-9F72-42BA-A08E-C3229E9C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24425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5454DF3-4D6F-46D5-8812-907F7088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8768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31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3231C"/>
                </a:solidFill>
                <a:latin typeface="Aptos"/>
                <a:ea typeface="Aptos"/>
                <a:cs typeface="Aptos"/>
              </a:rPr>
              <a:t>İdarəetmə bloku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B6BE35F-6540-49EB-9B9D-4F433540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196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35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BD02073-1F73-4344-B01F-008E65CB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8630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1C8792-6AD7-4F75-BC61-EC58F9CE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63867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31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3231C"/>
                </a:solidFill>
                <a:latin typeface="Aptos"/>
                <a:ea typeface="Aptos"/>
                <a:cs typeface="Aptos"/>
              </a:rPr>
              <a:t>Cərəyan ölçən cihaz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4567B6B-030D-4421-A6C7-F89D95BF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143500"/>
            <a:ext cx="304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9525">
            <a:solidFill>
              <a:srgbClr val="CAD8D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C1607E7-FB04-4DCA-9560-148F09DE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2768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Aşağı hissə: material nümunəsi + dayaq platforması + referans halqası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ECA31B0-E92F-4BD5-9D84-46D7EF39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C0C22A5-CA51-4AFE-9264-B13AF552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Maqnit asqılı rütubət ölçmə sistemi | Digital Twin demo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1BFB9AB-7296-44BB-A54F-355CF7C1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8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07168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8981493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B9EBE7-21FB-46F3-8C4C-78DAEC49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35BE27-D7F7-41AF-A12F-7067A67C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33018-E719-4D36-A467-F01AB29D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57A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57A24"/>
                </a:solidFill>
                <a:latin typeface="Aptos"/>
                <a:ea typeface="Aptos"/>
                <a:cs typeface="Aptos"/>
              </a:rPr>
              <a:t>FIZIKI MƏNTIQ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9C91BA-1C81-47CD-8FAB-BEB6F134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52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31C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3231C"/>
                </a:solidFill>
                <a:latin typeface="Georgia"/>
                <a:ea typeface="Georgia"/>
                <a:cs typeface="Georgia"/>
              </a:rPr>
              <a:t>Su real kütləni artıra bilər, amma maqnit asqısının hiss etdiyi görünən çəki azalır.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C5DB9-E2B8-4A31-B232-89A66ED2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Bu ayrım layihənin əsas müdafiə cümləsidir: adi tərəzi ilə maqnit asqılı ölçmə eyni siqnalı ölçmür.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84E98-5A0B-4DA1-B988-E832639D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1052C2-9DFD-4FBE-A4F4-42332723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7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E27568-3898-4F3D-8E89-2D147B3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990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31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31C"/>
                </a:solidFill>
                <a:latin typeface="Aptos"/>
                <a:ea typeface="Aptos"/>
                <a:cs typeface="Aptos"/>
              </a:rPr>
              <a:t>Quru-nəm rütubət formulu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21ADEF-2B6D-4F1F-BBC4-FCBA81B0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29908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m(su) = myaş - mquru</a:t>
            </a:r>
          </a:p>
          <a:p xmlns:a="http://schemas.openxmlformats.org/drawingml/2006/main">
            <a:pPr algn="l">
              <a:defRPr sz="84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W = m(su) / mquru × 100%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4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Diplom nümunəsi:</a:t>
            </a:r>
          </a:p>
          <a:p xmlns:a="http://schemas.openxmlformats.org/drawingml/2006/main">
            <a:pPr algn="l">
              <a:defRPr sz="84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(120.005 - 100.003) / 100.003 × 100% ≈ 19.99%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54C61F-D47A-4CB7-9504-A82E0BE6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FA886F-124E-4F5B-99B2-80D14B8E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ED7D73-BF3F-4DD6-8769-917F5E0D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43150"/>
            <a:ext cx="2990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31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31C"/>
                </a:solidFill>
                <a:latin typeface="Aptos"/>
                <a:ea typeface="Aptos"/>
                <a:cs typeface="Aptos"/>
              </a:rPr>
              <a:t>Maqnit asqısında görünən çəki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1F4760-71FB-4869-B54F-CECC76A5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47950"/>
            <a:ext cx="29908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Fapp = m·g - Fqaldırıcı</a:t>
            </a:r>
          </a:p>
          <a:p xmlns:a="http://schemas.openxmlformats.org/drawingml/2006/main">
            <a:pPr algn="l">
              <a:defRPr sz="84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Fm = k·I² / d²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4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Su səviyyəsi artdıqca qaldırıcı qüvvə artır və solenoidin saxlamalı olduğu yük azalır.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F1667E-70CE-4A4B-A8BE-95AAF923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907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240266-E8F1-4B06-9E3E-2DEC0A4C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9075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BEE9C9-55BC-4E46-B3EF-57394050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4315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31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31C"/>
                </a:solidFill>
                <a:latin typeface="Aptos"/>
                <a:ea typeface="Aptos"/>
                <a:cs typeface="Aptos"/>
              </a:rPr>
              <a:t>Simulyasiyada müşahidə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5585A5-8031-4B35-816F-9E733F07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47950"/>
            <a:ext cx="28003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Rütubət 2%: görünən çəki 8.16 kq</a:t>
            </a:r>
          </a:p>
          <a:p xmlns:a="http://schemas.openxmlformats.org/drawingml/2006/main">
            <a:pPr algn="l">
              <a:defRPr sz="84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Rütubət 12%: görünən çəki 8.06 kq</a:t>
            </a:r>
          </a:p>
          <a:p xmlns:a="http://schemas.openxmlformats.org/drawingml/2006/main">
            <a:pPr algn="l">
              <a:defRPr sz="84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Rütubət 35%: görünən çəki 6.45 kq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4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Cərəyan da azalır.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AF837E-AEC7-4F36-B4DE-84863988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43500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D8EC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D8EC2"/>
                </a:solidFill>
                <a:latin typeface="Aptos"/>
                <a:ea typeface="Aptos"/>
                <a:cs typeface="Aptos"/>
              </a:rPr>
              <a:t>Su 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3BA62B-D6FC-44BA-97AE-9EA1CFEA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6625" y="5238750"/>
            <a:ext cx="1171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A74690-2118-4BD6-A31E-F567785B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648200" y="5200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A4F9C-D499-412F-92F5-2A201C8D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435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8F8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8F84"/>
                </a:solidFill>
                <a:latin typeface="Aptos"/>
                <a:ea typeface="Aptos"/>
                <a:cs typeface="Aptos"/>
              </a:rPr>
              <a:t>Qaldırıcı qüvvə 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41842E-8888-4B26-9C93-6DDD275A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5238750"/>
            <a:ext cx="1171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ECE417-C58F-4946-9461-03B304C6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934325" y="5200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E6EE4A-5DFE-4315-8F99-B8AB8738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1435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355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3558"/>
                </a:solidFill>
                <a:latin typeface="Aptos"/>
                <a:ea typeface="Aptos"/>
                <a:cs typeface="Aptos"/>
              </a:rPr>
              <a:t>Görünən çəki 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EC653C-5F82-42C7-BB05-EDCADD7F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FF9CDD-01B4-4E66-B80F-22F19AAB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Maqnit asqılı rütubət ölçmə sistemi | Digital Twin demo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3E330E-0BA9-4BB2-A511-A818F2F4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8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07168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314206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5CE249-6E24-490D-959C-2A95E2B5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8EDBC9-344D-4A35-B0B7-5CE3C659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EE8E7-20DB-4DAD-93DC-F8B7643D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57A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57A24"/>
                </a:solidFill>
                <a:latin typeface="Aptos"/>
                <a:ea typeface="Aptos"/>
                <a:cs typeface="Aptos"/>
              </a:rPr>
              <a:t>PID IDARƏETMƏ DÖVRƏSI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3AFD3-E03A-47FE-9560-2134D55B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52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31C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3231C"/>
                </a:solidFill>
                <a:latin typeface="Georgia"/>
                <a:ea typeface="Georgia"/>
                <a:cs typeface="Georgia"/>
              </a:rPr>
              <a:t>Sistem yalnız PID ilə işləyir: sensor xətanı ölçür və solenoid cərəyanını düzəldir.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33512-CDEC-4960-8CDA-7C166C7B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PID-siz rejim çıxarıldı; müdafiədə sistem qapalı idarəetmə kimi izah olunur.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B7FF8F-1931-4A6C-A282-C9FD4E79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428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686357-B829-46A5-86F6-CB763C17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7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1AE8B8-6DF1-4D28-A812-E2945549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38475"/>
            <a:ext cx="1162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31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31C"/>
                </a:solidFill>
                <a:latin typeface="Aptos"/>
                <a:ea typeface="Aptos"/>
                <a:cs typeface="Aptos"/>
              </a:rPr>
              <a:t>Hədəf məsafə</a:t>
            </a:r>
          </a:p>
          <a:p xmlns:a="http://schemas.openxmlformats.org/drawingml/2006/main">
            <a:pPr algn="ctr">
              <a:defRPr sz="975" b="1">
                <a:solidFill>
                  <a:srgbClr val="13231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31C"/>
                </a:solidFill>
                <a:latin typeface="Aptos"/>
                <a:ea typeface="Aptos"/>
                <a:cs typeface="Aptos"/>
              </a:rPr>
              <a:t>5 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8DA87-7DA1-482F-947F-F0A0631C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05125"/>
            <a:ext cx="1428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E10E11-9B16-496A-A260-E3F94891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05125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5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3E2455-1663-4A5D-947D-9D97E297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38475"/>
            <a:ext cx="1162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31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31C"/>
                </a:solidFill>
                <a:latin typeface="Aptos"/>
                <a:ea typeface="Aptos"/>
                <a:cs typeface="Aptos"/>
              </a:rPr>
              <a:t>Xəta</a:t>
            </a:r>
          </a:p>
          <a:p xmlns:a="http://schemas.openxmlformats.org/drawingml/2006/main">
            <a:pPr algn="ctr">
              <a:defRPr sz="975" b="1">
                <a:solidFill>
                  <a:srgbClr val="13231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31C"/>
                </a:solidFill>
                <a:latin typeface="Aptos"/>
                <a:ea typeface="Aptos"/>
                <a:cs typeface="Aptos"/>
              </a:rPr>
              <a:t>e = d - dtarget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B1C066-45D2-46BF-BD08-5C8821EB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14625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9E7F66-6D96-401F-A2A7-E15B06C8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1462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4BEAD3-A8DF-4501-B7EB-EAC287C1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47975"/>
            <a:ext cx="135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31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31C"/>
                </a:solidFill>
                <a:latin typeface="Aptos"/>
                <a:ea typeface="Aptos"/>
                <a:cs typeface="Aptos"/>
              </a:rPr>
              <a:t>PID</a:t>
            </a:r>
          </a:p>
          <a:p xmlns:a="http://schemas.openxmlformats.org/drawingml/2006/main">
            <a:pPr algn="ctr">
              <a:defRPr sz="975" b="1">
                <a:solidFill>
                  <a:srgbClr val="13231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31C"/>
                </a:solidFill>
                <a:latin typeface="Aptos"/>
                <a:ea typeface="Aptos"/>
                <a:cs typeface="Aptos"/>
              </a:rPr>
              <a:t>u=Kp·e + Ki∫e + Kd·de/dt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814BB5-1191-4631-88B7-88C3ACCF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05125"/>
            <a:ext cx="1428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7DC48E-A8E9-4DD8-BB38-881ADD13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05125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127A14-39A9-4508-8A11-4536EF59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38475"/>
            <a:ext cx="1162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31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31C"/>
                </a:solidFill>
                <a:latin typeface="Aptos"/>
                <a:ea typeface="Aptos"/>
                <a:cs typeface="Aptos"/>
              </a:rPr>
              <a:t>Cərəyan</a:t>
            </a:r>
          </a:p>
          <a:p xmlns:a="http://schemas.openxmlformats.org/drawingml/2006/main">
            <a:pPr algn="ctr">
              <a:defRPr sz="975" b="1">
                <a:solidFill>
                  <a:srgbClr val="13231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31C"/>
                </a:solidFill>
                <a:latin typeface="Aptos"/>
                <a:ea typeface="Aptos"/>
                <a:cs typeface="Aptos"/>
              </a:rPr>
              <a:t>idarəetməsi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5172AE-7162-475B-B88A-18CC12C6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14625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07CE79-6942-48F8-A8D7-7019B391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1462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0F0DF0-71B6-425D-A4C6-C9DE07DD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47975"/>
            <a:ext cx="135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31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31C"/>
                </a:solidFill>
                <a:latin typeface="Aptos"/>
                <a:ea typeface="Aptos"/>
                <a:cs typeface="Aptos"/>
              </a:rPr>
              <a:t>Solenoid +</a:t>
            </a:r>
          </a:p>
          <a:p xmlns:a="http://schemas.openxmlformats.org/drawingml/2006/main">
            <a:pPr algn="ctr">
              <a:defRPr sz="975" b="1">
                <a:solidFill>
                  <a:srgbClr val="13231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31C"/>
                </a:solidFill>
                <a:latin typeface="Aptos"/>
                <a:ea typeface="Aptos"/>
                <a:cs typeface="Aptos"/>
              </a:rPr>
              <a:t>sabit maqnit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0E9BED-D754-42C9-BBD8-F24698BA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6250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85CBCF-8287-4D81-A097-2383512D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6250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FBC278-ED1D-4ABD-9AC1-5C573D29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95850"/>
            <a:ext cx="1924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31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31C"/>
                </a:solidFill>
                <a:latin typeface="Aptos"/>
                <a:ea typeface="Aptos"/>
                <a:cs typeface="Aptos"/>
              </a:rPr>
              <a:t>Hall sensoru / yerdəyişmə ölçməsi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34B80E-54F2-46A7-ACF0-6826AB9B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3125" y="32670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D38DED-0B18-4EE9-A422-7D23681B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2409825" y="32289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698D4B-9430-49DD-AA0A-268BF1B5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8125" y="32670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3BD26F-15AE-431A-82BA-A1192233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314825" y="32289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A21CA2-78A8-40A3-BDCE-3FC3D53E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3625" y="3267075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D88CA-9C08-46DD-9C8E-1726DBE4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505575" y="32289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515233-D588-495C-B533-4F51F08E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3875" y="32670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2E11D4-7524-4F78-B248-B8738E3A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410575" y="32289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85F280-C8F6-4362-9968-A9F7D7B1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8145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B752AA-72F0-4E78-91E0-70DCC495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57800"/>
            <a:ext cx="257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CA3DB3-2EDD-49E6-8639-EC3D373A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95700"/>
            <a:ext cx="381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4F4458-EE63-4C50-936C-BAC7C110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5310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8E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8EC2"/>
                </a:solidFill>
                <a:latin typeface="Aptos"/>
                <a:ea typeface="Aptos"/>
                <a:cs typeface="Aptos"/>
              </a:rPr>
              <a:t>feedback: ölçülən məsafə yenidən xəta blokuna qaytarılır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71CD3E-2C58-43AD-B53C-71BE9F27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07695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3231C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3231C"/>
                </a:solidFill>
                <a:latin typeface="Georgia"/>
                <a:ea typeface="Georgia"/>
                <a:cs typeface="Georgia"/>
              </a:rPr>
              <a:t>Qapalı dövrə: maqnit sürüşəndə sensor bunu görür, PID cərəyanı dərhal düzəldir.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E284F6-DAD5-4050-9971-0A5AC3BD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88A3E5-9DD8-4BA1-9957-17D761E2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Maqnit asqılı rütubət ölçmə sistemi | Digital Twin demo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C7BDC8-12BF-46CE-B42E-90969084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8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07168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494838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B3E244-C748-4E7A-BBFA-9E8AEB34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CFD70-987E-431E-A091-CCD965E8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23A25-823B-4605-8F67-421F3F5F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57A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57A24"/>
                </a:solidFill>
                <a:latin typeface="Aptos"/>
                <a:ea typeface="Aptos"/>
                <a:cs typeface="Aptos"/>
              </a:rPr>
              <a:t>PROQRAM ARXITEKTURASI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11525-E2B6-47FA-8F8D-946995F0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52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31C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3231C"/>
                </a:solidFill>
                <a:latin typeface="Georgia"/>
                <a:ea typeface="Georgia"/>
                <a:cs typeface="Georgia"/>
              </a:rPr>
              <a:t>React dashboard vizualizasiya edir, Python backend isə fiziki model və PID loop-u hesablayır.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16D03C-F144-4CF2-A646-019940C5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WebSocket bu iki hissəni real vaxt rejimində birləşdirir.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A97D8-3E14-4FC1-945A-633EBACA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952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7A717-E04E-4A5F-9AFC-57199757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FFCEED-1333-4490-BEF1-F937A753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2647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04C21-FDB1-4C1A-8F44-BEDD70BE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• React + TypeScript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4C89E-7B0A-4C6D-BB63-F429DDEC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4805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• Three.js 3D digital twin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6D1A1C-4AB6-4375-BEB9-A0AC5DE6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• ECharts canlı qrafiklər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486D3B-ED0B-496F-A14A-99E1193C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4815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• Zustand telemetry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35AAD1-8766-4DD4-B4E6-7875CEBA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81250"/>
            <a:ext cx="2952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216C49-9C75-4D3F-8122-C40A4796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81250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C832C0-AA36-488D-B823-11FDF493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495550"/>
            <a:ext cx="2647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Real-time kanal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DFE3B6-AF2A-4AA9-864C-EF663C9D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04800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• WebSocket /ws/telemetry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6F3241-BF83-40C7-940E-E56022D7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44805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• təxminən 30 mesaj/saniyə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31C0B3-A891-4B9B-B22F-CDBCA212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84810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• start/stop/reset komandaları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A54CAC-4678-4F98-A25B-DA993A91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24815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• parametr dəyişiklikləri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ED479C-B1C5-4F52-B9EB-52955E50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952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1FC8BB-862D-4526-AD01-07615E22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9AFAA2-5AA1-45C1-8373-FD5A652E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95550"/>
            <a:ext cx="2647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2A13C9-A2C8-4144-8452-FE58F17D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4800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• FastAPI + Uvicorn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FCDF99-F54D-4D54-AFC4-55135FD3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4805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• PID controller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885249-291D-43E7-B173-D7ED2A77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4810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• maglev physics engine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138448-4205-42BC-8E82-53B10CB2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4815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• pytest ilə yoxlama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90693C-3233-440F-95BC-04544CBC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19500"/>
            <a:ext cx="6953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BF264D-80A5-4738-B09B-868443B3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410075" y="3581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782D69-D1AC-490C-90C9-373FFE5D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7625" y="3619500"/>
            <a:ext cx="6953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0B05CB-43A0-4A40-A6D3-C598368D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362950" y="3581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052FC5-B0D6-4E00-A9E5-F116A966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67375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3231C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3231C"/>
                </a:solidFill>
                <a:latin typeface="Georgia"/>
                <a:ea typeface="Georgia"/>
                <a:cs typeface="Georgia"/>
              </a:rPr>
              <a:t>Data axını: sensor/məsafə/cərəyan → backend simulyasiya → telemetry JSON → UI kartları, qrafiklər və 3D səhnə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6E6B5C-B838-4AA9-98D6-6E90602C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6139DE-D0A7-4661-BE11-B3D8D005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Maqnit asqılı rütubət ölçmə sistemi | Digital Twin demo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C2497B-6597-47EB-ACBB-002FA3B3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8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07168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0492108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A8F610-AD86-4815-AA7A-89E3A9D3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0AA30-233E-498C-9BCB-2D991BD0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B2F98B-7D77-45E3-8DD9-AABBB9F1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57A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57A24"/>
                </a:solidFill>
                <a:latin typeface="Aptos"/>
                <a:ea typeface="Aptos"/>
                <a:cs typeface="Aptos"/>
              </a:rPr>
              <a:t>TECH STACK SEÇIMI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8A5BCF-CDFA-47A8-8B7D-16E76EDA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52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31C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3231C"/>
                </a:solidFill>
                <a:latin typeface="Georgia"/>
                <a:ea typeface="Georgia"/>
                <a:cs typeface="Georgia"/>
              </a:rPr>
              <a:t>Hər paket dissertasiya demosunda bir konkret problemi həll edir.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0A1BF0-61EF-4B22-9C89-1812BED6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Stack vizual güc, real-time əlaqə və akademik izah rahatlığı üçün seçilib.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96186C-EC5A-490E-9FB8-5574AEBA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11087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DB705C-594F-4ACB-A55C-F028434D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0275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Texnologiya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BDC14D-ED18-4849-922D-39A4FF6C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00275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Niyə istifadə etmişik?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1DDC26-2275-48DA-9EE0-CBC800AC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00275"/>
            <a:ext cx="361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Layihədə rolu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DC87DD-864D-47E0-9978-E994F16D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11087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261DB3-8E8F-4BCA-BA70-CB46E291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5747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3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31C"/>
                </a:solidFill>
                <a:latin typeface="Aptos"/>
                <a:ea typeface="Aptos"/>
                <a:cs typeface="Aptos"/>
              </a:rPr>
              <a:t>React + TypeScript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57D3A6-B5A5-4DAA-B8C8-982B557E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098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Interaktiv dashboard və tip təhlükəsizliyi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DA2843-B2EF-4385-ACE5-F1E2DC49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098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UI komponentləri, parametr paneli, telemetry kartları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30A6DD-AEA8-4542-9B79-8D2EEC52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11087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8"/>
          </a:solidFill>
          <a:ln xmlns:a="http://schemas.openxmlformats.org/drawingml/2006/main" w="9525">
            <a:solidFill>
              <a:srgbClr val="CAD8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0789B1-9174-4BDB-A944-E0CEA645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3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31C"/>
                </a:solidFill>
                <a:latin typeface="Aptos"/>
                <a:ea typeface="Aptos"/>
                <a:cs typeface="Aptos"/>
              </a:rPr>
              <a:t>Three.js / R3F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54E036-FCE4-453C-BF0A-40196940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623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Brauzerdə CAD-siz 3D digital twin qurmaq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D33E2A-65C6-4B35-95C1-AC9BE9A8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623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solenoid, kamera, qum/su girişi, maqnit sahəsi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3372A7-264B-433E-8965-9FB6E912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11087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3C666A-6D25-4222-A37F-1ED75FCC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6237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3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31C"/>
                </a:solidFill>
                <a:latin typeface="Aptos"/>
                <a:ea typeface="Aptos"/>
                <a:cs typeface="Aptos"/>
              </a:rPr>
              <a:t>ECharts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DA3C8D-C627-4415-A566-0FEF616D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147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MATLAB-a oxşar canlı qrafiklər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9FBA65-3355-4C18-9CC0-791ACA2A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147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məsafə, cərəyan, rütubət və görünən çəki qrafikləri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290788-39B6-4A5E-806B-AF32EDC8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11087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8"/>
          </a:solidFill>
          <a:ln xmlns:a="http://schemas.openxmlformats.org/drawingml/2006/main" w="9525">
            <a:solidFill>
              <a:srgbClr val="CAD8D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0216F0-EACC-46DD-953F-7D6A57BC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1482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3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31C"/>
                </a:solidFill>
                <a:latin typeface="Aptos"/>
                <a:ea typeface="Aptos"/>
                <a:cs typeface="Aptos"/>
              </a:rPr>
              <a:t>Zustand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AA2EAE-D311-4C77-A500-A16C9A66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672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Sadə real-time state idarəetməsi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DC464C-093E-4A30-860D-38AD4EF3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672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telemetry history və WebSocket parametrləri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D60BB6-9698-4880-900B-DE681424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05350"/>
            <a:ext cx="11087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59EC80-349A-42AF-982B-3982B856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6727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3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31C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13F572-1142-449F-A060-966A9F79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8196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Python fiziki modelini API kimi vermək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ED4191-B642-47CA-AEFA-D1EC9F7E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196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config, reset və websocket telemetry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6B28FF-5F78-475D-B1FA-3E3A71C4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11087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8"/>
          </a:solidFill>
          <a:ln xmlns:a="http://schemas.openxmlformats.org/drawingml/2006/main" w="9525">
            <a:solidFill>
              <a:srgbClr val="CAD8D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F38CF6-7246-4BBC-9993-E85A3B28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972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3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31C"/>
                </a:solidFill>
                <a:latin typeface="Aptos"/>
                <a:ea typeface="Aptos"/>
                <a:cs typeface="Aptos"/>
              </a:rPr>
              <a:t>Pytest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725703-9467-4A0A-A84B-285204BA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3721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Elmi model davranışını regressiyadan qorumaq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D549F3-8AB8-4CBD-8191-E0B6454F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3721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18 backend test: rütubət, PID, sensor, reset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26395A-5C6F-41E2-9C6C-87E694FD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1B787B-1FF9-46AF-852A-E6B69F9D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Maqnit asqılı rütubət ölçmə sistemi | Digital Twin demo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643CC3-20BF-4137-9750-0B3D744F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8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07168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3520921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C55E1D-66F3-4B24-ABC3-B61F4DF7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A874B-CA75-4B42-AB60-4B0BEB5A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2C06B-2829-4DAA-842E-C2AC8A76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57A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57A24"/>
                </a:solidFill>
                <a:latin typeface="Aptos"/>
                <a:ea typeface="Aptos"/>
                <a:cs typeface="Aptos"/>
              </a:rPr>
              <a:t>DEMO EKRANI NƏYI GÖSTƏRIR?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0B47DB-D0CE-4845-914B-109F8824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52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31C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3231C"/>
                </a:solidFill>
                <a:latin typeface="Georgia"/>
                <a:ea typeface="Georgia"/>
                <a:cs typeface="Georgia"/>
              </a:rPr>
              <a:t>UI müdafiədə həm cihazın quruluşunu, həm də ölçmə siqnalının necə yarandığını eyni anda göstərir.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42FFCF-CBC9-4B64-89F7-572B249B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Bütün əsas yazılar Azərbaycan dilindədir və light mode gün işığında oxunaqlıdır.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700858-687D-497E-A3E3-1BFA674D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3286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D695AD-8693-48F3-9149-2C4CA860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8B410-592F-4178-9816-F20D1849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90775"/>
            <a:ext cx="29432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31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31C"/>
                </a:solidFill>
                <a:latin typeface="Aptos"/>
                <a:ea typeface="Aptos"/>
                <a:cs typeface="Aptos"/>
              </a:rPr>
              <a:t>3D rəqəmsal əkiz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FB6C5-7C10-4489-8F85-4F57C6E0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95575"/>
            <a:ext cx="29432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Qum girişi, su çəni, ölçü kamerası, solenoid, N/S maqnit, Hall sensoru, idarəetmə bloku və cərəyan ölçən cihaz.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3B85A8-8682-4D6C-99EF-F93D5C9A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38375"/>
            <a:ext cx="3286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5840B7-0693-44C1-A852-FE08F0C5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38375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15BF90-5DD4-42BA-96D9-83004E92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90775"/>
            <a:ext cx="29432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31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31C"/>
                </a:solidFill>
                <a:latin typeface="Aptos"/>
                <a:ea typeface="Aptos"/>
                <a:cs typeface="Aptos"/>
              </a:rPr>
              <a:t>Canlı telemetry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AD01-AB3E-4090-9EBF-B69011F4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95575"/>
            <a:ext cx="29432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Həqiqi rütubət, hesablanan rütubət, real kütlə, maqnitin hiss etdiyi çəki, çəki azalması, cərəyan və məsafə.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8271C8-2A22-48CC-99F6-8C7BDBF7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238375"/>
            <a:ext cx="3286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FDB2FC-BF85-4445-BDDA-CD1E1BDE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238375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DF40E1-A6A4-4E89-8665-748AB123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390775"/>
            <a:ext cx="29432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31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31C"/>
                </a:solidFill>
                <a:latin typeface="Aptos"/>
                <a:ea typeface="Aptos"/>
                <a:cs typeface="Aptos"/>
              </a:rPr>
              <a:t>Qrafik analiz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1A1C71-540D-4B2C-B16D-6EDDEA38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695575"/>
            <a:ext cx="29432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Məsafə, cərəyan, rütubət, su səviyyəsi, kamera dolması və PID keçid prosesi qrafikləri.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DA1CB5-9B40-408B-80E7-BDA4403E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EAB1B6-514E-4BAC-A53E-752642B8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434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31C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13231C"/>
                </a:solidFill>
                <a:latin typeface="Georgia"/>
                <a:ea typeface="Georgia"/>
                <a:cs typeface="Georgia"/>
              </a:rPr>
              <a:t>Start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4F7817-3550-4041-AC1B-0268C3C7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Simulyasiyanı işə salır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F9AB6C-C7D9-4983-8581-68B47B59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768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60 Hz model loop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A2764D-7157-4F66-A59C-256C2453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7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02B08F-B9C1-4329-B087-516A4C56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7434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31C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13231C"/>
                </a:solidFill>
                <a:latin typeface="Georgia"/>
                <a:ea typeface="Georgia"/>
                <a:cs typeface="Georgia"/>
              </a:rPr>
              <a:t>Reset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A7E4C6-8147-40ED-863D-F3E70558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10540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Başlanğıc vəziyyət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CDC857-3993-4DB9-9DDC-0E2E085B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2768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quru/su state sıfırlanır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A58B33-76F1-4A83-81A6-7ACC625A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625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4A8315-2CFB-496B-B893-035F8F38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7434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31C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13231C"/>
                </a:solidFill>
                <a:latin typeface="Georgia"/>
                <a:ea typeface="Georgia"/>
                <a:cs typeface="Georgia"/>
              </a:rPr>
              <a:t>Slider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9FCD8C-411A-43BF-AC10-3AF424B0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10540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Parametr sazlaması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B4C0CA-D94C-4C50-8989-B2CB1C22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2768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PID, qum, su, drenaj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ED1D02-5EBD-43E9-B8FC-A861993E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625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5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B20036-0927-49ED-8CFA-1E8A96EB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434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31C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13231C"/>
                </a:solidFill>
                <a:latin typeface="Georgia"/>
                <a:ea typeface="Georgia"/>
                <a:cs typeface="Georgia"/>
              </a:rPr>
              <a:t>Chart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CFAE9A-5ACA-4E48-9C35-5483C46E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0540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07168"/>
                </a:solidFill>
                <a:latin typeface="Aptos"/>
                <a:ea typeface="Aptos"/>
                <a:cs typeface="Aptos"/>
              </a:rPr>
              <a:t>Elmi izah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1B6222-5578-43AE-92BC-47AAF476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768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MATLAB-a oxşar nəticə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C419BE-6FBA-4F00-B2FD-91410604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42D2AA-8844-4FCD-B67F-E5762793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Maqnit asqılı rütubət ölçmə sistemi | Digital Twin demo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8D9A8B-D0E4-45A4-967B-A91683D3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8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07168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1954074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A4CABD-D101-462E-AA37-88CACA64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F1DFB4-D777-480E-8452-56F06BAB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C5D8DD-01F4-405F-AB86-EA3BFB17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57A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57A24"/>
                </a:solidFill>
                <a:latin typeface="Aptos"/>
                <a:ea typeface="Aptos"/>
                <a:cs typeface="Aptos"/>
              </a:rPr>
              <a:t>MÜDAFIƏ ÜÇÜN ƏSAS NƏTICƏ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94900-747D-443A-879E-0FD74BA1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52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31C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3231C"/>
                </a:solidFill>
                <a:latin typeface="Georgia"/>
                <a:ea typeface="Georgia"/>
                <a:cs typeface="Georgia"/>
              </a:rPr>
              <a:t>Layihə real cihazı əvəz etmir; real cihazın işləmə məntiqini izah edən, ölçülə bilən və testlənən digital twin demodur.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6A505-9945-4D6B-BF05-408BBD68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Bu cümlə həm elmi məhdudiyyəti, həm də layihənin dəyərini düzgün qoyur.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7F988-F8A3-4DF2-8CE6-7C86C869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3333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31E92-E8A4-47BB-BA0D-C0A34C3C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47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96850-F57A-4094-B878-B7BA8C10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2990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31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31C"/>
                </a:solidFill>
                <a:latin typeface="Aptos"/>
                <a:ea typeface="Aptos"/>
                <a:cs typeface="Aptos"/>
              </a:rPr>
              <a:t>Nə sübut olunur?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1A8E8E-BECB-4D42-965A-E70C5DC4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29908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• Qum/su girişi olan qurğu modeli qurulub</a:t>
            </a:r>
          </a:p>
          <a:p xmlns:a="http://schemas.openxmlformats.org/drawingml/2006/main">
            <a:pPr algn="l">
              <a:defRPr sz="84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• Su artdıqca maqnitin hiss etdiyi görünən çəki azalır</a:t>
            </a:r>
          </a:p>
          <a:p xmlns:a="http://schemas.openxmlformats.org/drawingml/2006/main">
            <a:pPr algn="l">
              <a:defRPr sz="84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• PID solenoid cərəyanını düzəldir</a:t>
            </a:r>
          </a:p>
          <a:p xmlns:a="http://schemas.openxmlformats.org/drawingml/2006/main">
            <a:pPr algn="l">
              <a:defRPr sz="84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• Rütubət cərəyan və məsafədən qiymətləndirilir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DD2B30-D3B5-432A-90D4-4109F4F4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3333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A1988C-62AA-4F0E-AA45-59BF3433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47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6733E5-7AFC-49DB-A13C-F3FBB498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343150"/>
            <a:ext cx="2990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31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31C"/>
                </a:solidFill>
                <a:latin typeface="Aptos"/>
                <a:ea typeface="Aptos"/>
                <a:cs typeface="Aptos"/>
              </a:rPr>
              <a:t>Necə yoxlanıb?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DD260F-D1A6-4200-AB1A-E241738A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647950"/>
            <a:ext cx="29908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• Backend pytest: 18 test</a:t>
            </a:r>
          </a:p>
          <a:p xmlns:a="http://schemas.openxmlformats.org/drawingml/2006/main">
            <a:pPr algn="l">
              <a:defRPr sz="84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• Frontend TypeScript build keçir</a:t>
            </a:r>
          </a:p>
          <a:p xmlns:a="http://schemas.openxmlformats.org/drawingml/2006/main">
            <a:pPr algn="l">
              <a:defRPr sz="84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• WebSocket telemetry sahələri typed-dir</a:t>
            </a:r>
          </a:p>
          <a:p xmlns:a="http://schemas.openxmlformats.org/drawingml/2006/main">
            <a:pPr algn="l">
              <a:defRPr sz="84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• Sensor noise və filtr modeli ayrıdır</a:t>
            </a:r>
          </a:p>
          <a:p xmlns:a="http://schemas.openxmlformats.org/drawingml/2006/main">
            <a:pPr algn="l">
              <a:defRPr sz="84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• Reset başlanğıc vəziyyətə qaytarır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11B247-518F-4F4F-AAFF-DDF7367B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3333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DF5EDD-FF71-4F98-9BD5-168D4DE9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47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4A6D04-13E2-46BF-8606-65A43FD6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43150"/>
            <a:ext cx="2990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31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31C"/>
                </a:solidFill>
                <a:latin typeface="Aptos"/>
                <a:ea typeface="Aptos"/>
                <a:cs typeface="Aptos"/>
              </a:rPr>
              <a:t>Növbəti inkişaf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646F83-FD0C-4941-AA32-C7A5A37D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47950"/>
            <a:ext cx="29908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• Real Arduino/sensor inteqrasiyası</a:t>
            </a:r>
          </a:p>
          <a:p xmlns:a="http://schemas.openxmlformats.org/drawingml/2006/main">
            <a:pPr algn="l">
              <a:defRPr sz="84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• Eksperimental kalibrasiya əyrisi</a:t>
            </a:r>
          </a:p>
          <a:p xmlns:a="http://schemas.openxmlformats.org/drawingml/2006/main">
            <a:pPr algn="l">
              <a:defRPr sz="84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• Verilənlər bazası və MQTT</a:t>
            </a:r>
          </a:p>
          <a:p xmlns:a="http://schemas.openxmlformats.org/drawingml/2006/main">
            <a:pPr algn="l">
              <a:defRPr sz="84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• SCADA paneli</a:t>
            </a:r>
          </a:p>
          <a:p xmlns:a="http://schemas.openxmlformats.org/drawingml/2006/main">
            <a:pPr algn="l">
              <a:defRPr sz="840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• CAD və ya COMSOL geometriyası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F3355B-0340-4DD0-B406-C0C4BE30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86375"/>
            <a:ext cx="1028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0433B8-196E-4264-9128-F02F7F4A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3231C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3231C"/>
                </a:solidFill>
                <a:latin typeface="Aptos"/>
                <a:ea typeface="Aptos"/>
                <a:cs typeface="Aptos"/>
              </a:rPr>
              <a:t>Müdafiə cümləsi: “Bu sistem rütubəti birbaşa ölçmür; maqnit asqısında yaranan görünən çəki və solenoid cərəyanı dəyişikliyini rütubət göstəricisinə çevirir.”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79878B-A780-4BF8-92FC-89586AAC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5D6912-87AA-4A3F-A4F7-976AA125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16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07168"/>
                </a:solidFill>
                <a:latin typeface="Aptos"/>
                <a:ea typeface="Aptos"/>
                <a:cs typeface="Aptos"/>
              </a:rPr>
              <a:t>Maqnit asqılı rütubət ölçmə sistemi | Digital Twin demo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0CBB10-0F8D-4871-BE85-336FA793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8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07168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127729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2026-05-10T07:11:32.2140000Z</dcterms:created>
  <dcterms:modified xsi:type="dcterms:W3CDTF">2026-05-10T07:11:32.2140000Z</dcterms:modified>
</coreProperties>
</file>